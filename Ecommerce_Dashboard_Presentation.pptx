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3B1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8B6FC9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8B6FC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CORPORATE PROJECT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interactive view of revenue, orders, customers, and delivery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built to support faster, data-driven decisions.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623560"/>
            <a:ext cx="10058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760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989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Lavi Kumar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Needed to See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needed one place to monitor how the business is really performing — from revenue and customers down to how reliably orders get delivered — instead of piecing it together from separate reports.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3EFFA"/>
          </a:solidFill>
          <a:ln/>
          <a:effectLst>
            <a:outerShdw sx="100000" sy="100000" kx="0" ky="0" algn="bl" rotWithShape="0" blurRad="76200" dist="25400" dir="5400000">
              <a:srgbClr val="3B1E6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79192"/>
            <a:ext cx="548640" cy="54864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7" name="Image 0" descr="assets/icon_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81086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5584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Revenue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721608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sales as they happen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33672" y="24231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3EFFA"/>
          </a:solidFill>
          <a:ln/>
          <a:effectLst>
            <a:outerShdw sx="100000" sy="100000" kx="0" ky="0" algn="bl" rotWithShape="0" blurRad="76200" dist="25400" dir="5400000">
              <a:srgbClr val="3B1E6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679192"/>
            <a:ext cx="548640" cy="54864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12" name="Image 1" descr="assets/icon_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378" y="281086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9704" y="335584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Orders &amp; Customers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89704" y="3721608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base growth over time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18704" y="24231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3EFFA"/>
          </a:solidFill>
          <a:ln/>
          <a:effectLst>
            <a:outerShdw sx="100000" sy="100000" kx="0" ky="0" algn="bl" rotWithShape="0" blurRad="76200" dist="25400" dir="5400000">
              <a:srgbClr val="3B1E6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74736" y="2679192"/>
            <a:ext cx="548640" cy="54864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17" name="Image 2" descr="assets/icon_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410" y="2810866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74736" y="335584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Top Products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174736" y="3721608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categories &amp; SKUs win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43484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3EFFA"/>
          </a:solidFill>
          <a:ln/>
          <a:effectLst>
            <a:outerShdw sx="100000" sy="100000" kx="0" ky="0" algn="bl" rotWithShape="0" blurRad="76200" dist="25400" dir="5400000">
              <a:srgbClr val="3B1E63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690872"/>
            <a:ext cx="548640" cy="54864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22" name="Image 3" descr="assets/icon_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822546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536752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Payment Methods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04672" y="5733288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customers pay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33672" y="443484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3EFFA"/>
          </a:solidFill>
          <a:ln/>
          <a:effectLst>
            <a:outerShdw sx="100000" sy="100000" kx="0" ky="0" algn="bl" rotWithShape="0" blurRad="76200" dist="25400" dir="5400000">
              <a:srgbClr val="3B1E63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9704" y="4690872"/>
            <a:ext cx="548640" cy="54864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27" name="Image 4" descr="assets/icon_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1378" y="4822546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89704" y="536752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Delivery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489704" y="5733288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vs. late performance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918704" y="443484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3EFFA"/>
          </a:solidFill>
          <a:ln/>
          <a:effectLst>
            <a:outerShdw sx="100000" sy="100000" kx="0" ky="0" algn="bl" rotWithShape="0" blurRad="76200" dist="25400" dir="5400000">
              <a:srgbClr val="3B1E63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74736" y="4690872"/>
            <a:ext cx="548640" cy="54864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32" name="Image 5" descr="assets/icon_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410" y="4822546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74736" y="536752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Decisions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174736" y="5733288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management a data-driven view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 &amp; 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Tables, One Connected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100584" cy="100584"/>
          </a:xfrm>
          <a:prstGeom prst="ellipse">
            <a:avLst/>
          </a:prstGeom>
          <a:solidFill>
            <a:srgbClr val="8B6FC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1109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customer_Sheet  </a:t>
            </a:r>
            <a:pPr indent="0" marL="0">
              <a:buNone/>
            </a:pPr>
            <a:r>
              <a:rPr lang="en-US" sz="11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&amp; 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615184"/>
            <a:ext cx="100584" cy="100584"/>
          </a:xfrm>
          <a:prstGeom prst="ellipse">
            <a:avLst/>
          </a:prstGeom>
          <a:solidFill>
            <a:srgbClr val="8B6FC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780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order_Sheet  </a:t>
            </a:r>
            <a:pPr indent="0" marL="0">
              <a:buNone/>
            </a:pPr>
            <a:r>
              <a:rPr lang="en-US" sz="11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header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182112"/>
            <a:ext cx="100584" cy="100584"/>
          </a:xfrm>
          <a:prstGeom prst="ellipse">
            <a:avLst/>
          </a:prstGeom>
          <a:solidFill>
            <a:srgbClr val="8B6FC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44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transaction_Sheet  </a:t>
            </a:r>
            <a:pPr indent="0" marL="0">
              <a:buNone/>
            </a:pPr>
            <a:r>
              <a:rPr lang="en-US" sz="11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amount detail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749040"/>
            <a:ext cx="100584" cy="100584"/>
          </a:xfrm>
          <a:prstGeom prst="ellipse">
            <a:avLst/>
          </a:prstGeom>
          <a:solidFill>
            <a:srgbClr val="8B6FC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118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product_Sheet  </a:t>
            </a:r>
            <a:pPr indent="0" marL="0">
              <a:buNone/>
            </a:pPr>
            <a:r>
              <a:rPr lang="en-US" sz="11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master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00584" cy="100584"/>
          </a:xfrm>
          <a:prstGeom prst="ellipse">
            <a:avLst/>
          </a:prstGeom>
          <a:solidFill>
            <a:srgbClr val="8B6FC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7880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delivery_Sheet  </a:t>
            </a:r>
            <a:pPr indent="0" marL="0">
              <a:buNone/>
            </a:pPr>
            <a:r>
              <a:rPr lang="en-US" sz="11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&amp; status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882896"/>
            <a:ext cx="100584" cy="100584"/>
          </a:xfrm>
          <a:prstGeom prst="ellipse">
            <a:avLst/>
          </a:prstGeom>
          <a:solidFill>
            <a:srgbClr val="8B6FC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4573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rating_Sheet  </a:t>
            </a:r>
            <a:pPr indent="0" marL="0">
              <a:buNone/>
            </a:pPr>
            <a:r>
              <a:rPr lang="en-US" sz="11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scores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10312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3EF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24231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3B1E63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423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92440" y="24231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95360" y="24231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3B1E63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2423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0" y="24231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469880" y="24231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3B1E63"/>
          </a:solidFill>
          <a:ln/>
        </p:spPr>
      </p:sp>
      <p:sp>
        <p:nvSpPr>
          <p:cNvPr id="26" name="Text 24"/>
          <p:cNvSpPr/>
          <p:nvPr/>
        </p:nvSpPr>
        <p:spPr>
          <a:xfrm>
            <a:off x="10469880" y="2423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3566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566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0" y="3566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566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75520" y="3566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8B6F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3566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Order ID / Product ID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828800"/>
            <a:ext cx="4572000" cy="4572000"/>
          </a:xfrm>
          <a:prstGeom prst="ellipse">
            <a:avLst/>
          </a:prstGeom>
          <a:solidFill>
            <a:srgbClr val="3B1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DAX MEASURES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Formulas Behind the Numbers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3B1E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69164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 customer_id 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3B1E6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1343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313432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 order_id 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3B1E6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35224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935224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amount 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3B1E6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57016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3557016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/ Orders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78808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3B1E6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7880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178808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 delivery_time_mins 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3B1E6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00600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480060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&lt;= 25 mins / Total Deliveries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42239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3B1E6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42239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5422392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&gt; 25 mins / Total Deliveries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Blinkit Sales Dashboard — Full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1417320"/>
            <a:ext cx="9326880" cy="5074920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12700">
            <a:solidFill>
              <a:srgbClr val="8B6FC9"/>
            </a:solidFill>
            <a:prstDash val="solid"/>
          </a:ln>
          <a:effectLst>
            <a:outerShdw sx="100000" sy="100000" kx="0" ky="0" algn="bl" rotWithShape="0" blurRad="127000" dist="38100" dir="5400000">
              <a:srgbClr val="3B1E63">
                <a:alpha val="18000"/>
              </a:srgbClr>
            </a:outerShdw>
          </a:effectLst>
        </p:spPr>
      </p:sp>
      <p:pic>
        <p:nvPicPr>
          <p:cNvPr id="5" name="Image 0" descr="assets/dash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00200" y="1572768"/>
            <a:ext cx="896112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VISUAL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Visual Tells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3B1E6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asset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4144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revenue, orders, customers, AOV and delivery KPIs at a glance.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3B1E63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18288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assets/icon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19495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44144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278892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monthly sales performance across years.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3B1E63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assets/icon_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194950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44144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46520" y="278892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best-selling products by revenue.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3B1E63"/>
          </a:solidFill>
          <a:ln/>
        </p:spPr>
      </p:sp>
      <p:sp>
        <p:nvSpPr>
          <p:cNvPr id="20" name="Shape 15"/>
          <p:cNvSpPr/>
          <p:nvPr/>
        </p:nvSpPr>
        <p:spPr>
          <a:xfrm>
            <a:off x="9281160" y="18288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3" descr="assets/icon_pie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861" y="194950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44144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Analysis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81160" y="278892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each category's contribution to sales.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26" name="Image 4" descr="assets/icon_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09834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459028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Analysis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77240" y="493776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payment preferences.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83280" y="37490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/>
        </p:spPr>
      </p:sp>
      <p:sp>
        <p:nvSpPr>
          <p:cNvPr id="30" name="Shape 23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31" name="Image 5" descr="assets/icon_map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2581" y="409834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11880" y="459028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Analysis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11880" y="493776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top-performing cities by revenue.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17920" y="37490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36" name="Image 6" descr="assets/icon_activi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7221" y="4098341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46520" y="459028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Trend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446520" y="493776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customer satisfaction over time.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52560" y="37490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/>
        </p:spPr>
      </p:sp>
      <p:sp>
        <p:nvSpPr>
          <p:cNvPr id="40" name="Shape 31"/>
          <p:cNvSpPr/>
          <p:nvPr/>
        </p:nvSpPr>
        <p:spPr>
          <a:xfrm>
            <a:off x="9281160" y="3977640"/>
            <a:ext cx="502920" cy="50292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41" name="Image 7" descr="assets/icon_tru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861" y="4098341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81160" y="459028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Analysis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281160" y="493776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on-time vs. late delivery performance.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KEY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That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73352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40487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28416" y="150876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8" name="Text 6"/>
          <p:cNvSpPr/>
          <p:nvPr/>
        </p:nvSpPr>
        <p:spPr>
          <a:xfrm>
            <a:off x="3511296" y="1673352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11296" y="240487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08192" y="150876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673352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91072" y="240487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87968" y="150876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673352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70848" y="240487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 (MINS)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F3EF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18" name="Image 0" descr="assets/icon_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511296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" y="4005072"/>
            <a:ext cx="22311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Baby Care leads category sales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49808" y="470916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top-performing category by total revenue.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28416" y="3200400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F3EFFA"/>
          </a:solidFill>
          <a:ln/>
        </p:spPr>
      </p:sp>
      <p:sp>
        <p:nvSpPr>
          <p:cNvPr id="22" name="Shape 19"/>
          <p:cNvSpPr/>
          <p:nvPr/>
        </p:nvSpPr>
        <p:spPr>
          <a:xfrm>
            <a:off x="3529584" y="3401568"/>
            <a:ext cx="457200" cy="45720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23" name="Image 1" descr="assets/icon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3511296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29584" y="4005072"/>
            <a:ext cx="22311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Tea 500ml is the best-seller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529584" y="470916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single product at ₹186K.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08192" y="3200400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F3EFFA"/>
          </a:solidFill>
          <a:ln/>
        </p:spPr>
      </p:sp>
      <p:sp>
        <p:nvSpPr>
          <p:cNvPr id="27" name="Shape 23"/>
          <p:cNvSpPr/>
          <p:nvPr/>
        </p:nvSpPr>
        <p:spPr>
          <a:xfrm>
            <a:off x="6309360" y="3401568"/>
            <a:ext cx="457200" cy="45720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28" name="Image 2" descr="assets/icon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511296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09360" y="4005072"/>
            <a:ext cx="22311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drives half of all revenue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309360" y="470916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contributes roughly 49.87% of total sales.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887968" y="3200400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F3EFFA"/>
          </a:solidFill>
          <a:ln/>
        </p:spPr>
      </p:sp>
      <p:sp>
        <p:nvSpPr>
          <p:cNvPr id="32" name="Shape 27"/>
          <p:cNvSpPr/>
          <p:nvPr/>
        </p:nvSpPr>
        <p:spPr>
          <a:xfrm>
            <a:off x="9089136" y="3401568"/>
            <a:ext cx="457200" cy="457200"/>
          </a:xfrm>
          <a:prstGeom prst="ellipse">
            <a:avLst/>
          </a:prstGeom>
          <a:solidFill>
            <a:srgbClr val="3B1E63"/>
          </a:solidFill>
          <a:ln/>
        </p:spPr>
      </p:sp>
      <p:pic>
        <p:nvPicPr>
          <p:cNvPr id="33" name="Image 3" descr="assets/icon_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3511296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089136" y="4005072"/>
            <a:ext cx="22311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is the top revenue city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9089136" y="470916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Highest-earning city at ₹3.8M in sales.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3B1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Business Should 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 for top-performing products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56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69164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low-performing categories to lift their share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56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329184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delivery efficiency to reduce late deliveries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456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0" y="329184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November sales decline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566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600200" y="489204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marketing campaigns in high-performing cities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50566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489204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adoption of alternative payment methods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TOOLS &amp; SKILLS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1051560"/>
          </a:xfrm>
          <a:prstGeom prst="roundRect">
            <a:avLst>
              <a:gd name="adj" fmla="val 8696"/>
            </a:avLst>
          </a:prstGeom>
          <a:solidFill>
            <a:srgbClr val="F3EFFA"/>
          </a:solidFill>
          <a:ln w="9525">
            <a:solidFill>
              <a:srgbClr val="8B6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2670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2194560"/>
            <a:ext cx="2670048" cy="1051560"/>
          </a:xfrm>
          <a:prstGeom prst="roundRect">
            <a:avLst>
              <a:gd name="adj" fmla="val 8696"/>
            </a:avLst>
          </a:prstGeom>
          <a:solidFill>
            <a:srgbClr val="F3EFFA"/>
          </a:solidFill>
          <a:ln w="9525">
            <a:solidFill>
              <a:srgbClr val="8B6F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194560"/>
            <a:ext cx="2670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2670048" cy="1051560"/>
          </a:xfrm>
          <a:prstGeom prst="roundRect">
            <a:avLst>
              <a:gd name="adj" fmla="val 8696"/>
            </a:avLst>
          </a:prstGeom>
          <a:solidFill>
            <a:srgbClr val="F3EFFA"/>
          </a:solidFill>
          <a:ln w="9525">
            <a:solidFill>
              <a:srgbClr val="8B6F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194560"/>
            <a:ext cx="2670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52560" y="2194560"/>
            <a:ext cx="2670048" cy="1051560"/>
          </a:xfrm>
          <a:prstGeom prst="roundRect">
            <a:avLst>
              <a:gd name="adj" fmla="val 8696"/>
            </a:avLst>
          </a:prstGeom>
          <a:solidFill>
            <a:srgbClr val="F3EFFA"/>
          </a:solidFill>
          <a:ln w="9525">
            <a:solidFill>
              <a:srgbClr val="8B6F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2194560"/>
            <a:ext cx="2670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2670048" cy="1051560"/>
          </a:xfrm>
          <a:prstGeom prst="roundRect">
            <a:avLst>
              <a:gd name="adj" fmla="val 8696"/>
            </a:avLst>
          </a:prstGeom>
          <a:solidFill>
            <a:srgbClr val="F3EFFA"/>
          </a:solidFill>
          <a:ln w="9525">
            <a:solidFill>
              <a:srgbClr val="8B6F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7288"/>
            <a:ext cx="2670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3447288"/>
            <a:ext cx="2670048" cy="1051560"/>
          </a:xfrm>
          <a:prstGeom prst="roundRect">
            <a:avLst>
              <a:gd name="adj" fmla="val 8696"/>
            </a:avLst>
          </a:prstGeom>
          <a:solidFill>
            <a:srgbClr val="F3EFFA"/>
          </a:solidFill>
          <a:ln w="9525">
            <a:solidFill>
              <a:srgbClr val="8B6F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447288"/>
            <a:ext cx="2670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Design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447288"/>
            <a:ext cx="2670048" cy="1051560"/>
          </a:xfrm>
          <a:prstGeom prst="roundRect">
            <a:avLst>
              <a:gd name="adj" fmla="val 8696"/>
            </a:avLst>
          </a:prstGeom>
          <a:solidFill>
            <a:srgbClr val="F3EFFA"/>
          </a:solidFill>
          <a:ln w="9525">
            <a:solidFill>
              <a:srgbClr val="8B6F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447288"/>
            <a:ext cx="2670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Development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3447288"/>
            <a:ext cx="2670048" cy="1051560"/>
          </a:xfrm>
          <a:prstGeom prst="roundRect">
            <a:avLst>
              <a:gd name="adj" fmla="val 8696"/>
            </a:avLst>
          </a:prstGeom>
          <a:solidFill>
            <a:srgbClr val="F3EFFA"/>
          </a:solidFill>
          <a:ln w="9525">
            <a:solidFill>
              <a:srgbClr val="8B6F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3447288"/>
            <a:ext cx="2670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1463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Power BI workflow: shaping data with Power Query, modeling relationships, writing DAX measures, and designing an interactive dashboard for business intelligence reporting.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3B1E6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" name="Image 0" descr="assets/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56911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6974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Dashboard. Faster Decisions.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gives management a single interactive view of sales and operations — replacing scattered reports with one connected model that supports faster, better business decisions.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4846320"/>
            <a:ext cx="10058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 Kumar  ·  Power BI Corporate Project Report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2026-07-10T17:39:44Z</dcterms:created>
  <dcterms:modified xsi:type="dcterms:W3CDTF">2026-07-10T17:39:44Z</dcterms:modified>
</cp:coreProperties>
</file>